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353830" y="1360170"/>
            <a:ext cx="44363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ASB Consulting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313269" y="2198370"/>
            <a:ext cx="45173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Стратегия бухгалтерских услуг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2808637" y="2846070"/>
            <a:ext cx="3526727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Комплексное решение для вашего бизнеса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442298" y="3501390"/>
            <a:ext cx="259404" cy="129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компании ASB Consulting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Наша специализация: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600200"/>
            <a:ext cx="7924800" cy="1440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Контекстная реклама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Google Ads, Yandex Direct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VK, Instagram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поисковая оптимизация</a:t>
            </a:r>
            <a:endParaRPr lang="en-US" sz="1200" dirty="0"/>
          </a:p>
          <a:p>
            <a:pPr marL="342900" indent="-342900">
              <a:lnSpc>
                <a:spcPts val="2160"/>
              </a:lnSpc>
              <a:buSzPct val="100000"/>
              <a:buChar char="•"/>
            </a:pPr>
            <a:r>
              <a:rPr lang="en-US" sz="12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pPr indent="0" marL="0">
              <a:lnSpc>
                <a:spcPts val="216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CPC, CPL, B2B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629150"/>
            <a:ext cx="7924800" cy="777240"/>
          </a:xfrm>
          <a:prstGeom prst="rect">
            <a:avLst/>
          </a:prstGeom>
          <a:noFill/>
          <a:ln w="7620">
            <a:solidFill>
              <a:srgbClr val="DDDDD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Контекстная реклама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1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1516381"/>
            <a:ext cx="3848100" cy="288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 и дисплей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кампании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 реклама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Ремаркетинг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ставок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тестирование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Ежедневная оптимизация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Отчётность и анализ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686300" y="1173481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Yandex Direct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86300" y="1516381"/>
            <a:ext cx="3848100" cy="288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Поисковая реклама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РСЯ - сетевая реклама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Умные баннеры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Динамическая реклама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Ремаркетинг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ключевых слов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кампаний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Еженедельный отчет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478917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контекстной рекламы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509397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Стартовый бюджет: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25-35 тыс. руб.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месяц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629150"/>
            <a:ext cx="7924800" cy="777240"/>
          </a:xfrm>
          <a:prstGeom prst="rect">
            <a:avLst/>
          </a:prstGeom>
          <a:noFill/>
          <a:ln w="7620">
            <a:solidFill>
              <a:srgbClr val="DDDDD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(Social Media Marketing)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173481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 (ВКонтакте)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600" y="1516381"/>
            <a:ext cx="3848100" cy="288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сообществом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контента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Реклама в ленте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Таргетированная реклама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Модерация комментариев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Взаимодействие с аудиторией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Аналитика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Еженедельные insights</a:t>
            </a:r>
            <a:endParaRPr lang="en-US" sz="1140" dirty="0"/>
          </a:p>
        </p:txBody>
      </p:sp>
      <p:sp>
        <p:nvSpPr>
          <p:cNvPr id="6" name="Text 4"/>
          <p:cNvSpPr/>
          <p:nvPr/>
        </p:nvSpPr>
        <p:spPr>
          <a:xfrm>
            <a:off x="4686300" y="1173481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 &amp; Facebook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686300" y="1516381"/>
            <a:ext cx="3848100" cy="2884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аккаунтом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стратегии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постов и сторис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Таргетированная реклама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маркетинг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management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и отчеты</a:t>
            </a:r>
            <a:endParaRPr lang="en-US" sz="1140" dirty="0"/>
          </a:p>
          <a:p>
            <a:pPr marL="342900" indent="-342900">
              <a:lnSpc>
                <a:spcPts val="2052"/>
              </a:lnSpc>
              <a:buSzPct val="100000"/>
              <a:buChar char="•"/>
            </a:pPr>
            <a:r>
              <a:rPr lang="en-US" sz="114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tracking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609600" y="4789170"/>
            <a:ext cx="8083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Бюджет SMM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9600" y="5093970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Стартовый бюджет: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30-45 тыс. руб.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 месяц + реклама </a:t>
            </a:r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10-50 тыс. руб.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865120"/>
            <a:ext cx="7924800" cy="883920"/>
          </a:xfrm>
          <a:prstGeom prst="rect">
            <a:avLst/>
          </a:prstGeom>
          <a:noFill/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Оптимизация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09600" y="1325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Технический SEO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600" y="1600200"/>
            <a:ext cx="388620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сайта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1927861"/>
            <a:ext cx="38100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скорости загрузки, мобильность, структурированные данные, CRM, интеграция с аналитикой, actionable insights.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724400" y="13258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SEO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724400" y="1600200"/>
            <a:ext cx="388620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Написание контента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24400" y="1927861"/>
            <a:ext cx="3810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ключевых слов, написание статей, оптимизация мета-тегов, внутренняя перелинковка, actionable insights.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609600" y="3101341"/>
            <a:ext cx="80832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Ежемесячный пакет от 50 тыс. руб.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9600" y="3429000"/>
            <a:ext cx="8083296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26"/>
              </a:lnSpc>
              <a:buNone/>
            </a:pPr>
            <a:r>
              <a:rPr lang="en-US" sz="114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обычно видны через 3-6 месяцев интенсивной работы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3848100" cy="1649730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249680"/>
            <a:ext cx="3848100" cy="1649730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128011"/>
            <a:ext cx="3848100" cy="1649730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3128011"/>
            <a:ext cx="3848100" cy="1649730"/>
          </a:xfrm>
          <a:prstGeom prst="rect">
            <a:avLst/>
          </a:prstGeom>
          <a:solidFill>
            <a:srgbClr val="E8F4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Ценообразование по каналам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402080"/>
            <a:ext cx="361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(Поиск)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1706880"/>
            <a:ext cx="36141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50-150 руб.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62000" y="2053591"/>
            <a:ext cx="36141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634-3634 руб.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62000" y="2400300"/>
            <a:ext cx="36141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Эффективно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4838700" y="1402080"/>
            <a:ext cx="361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Yandex Direct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38700" y="1706880"/>
            <a:ext cx="36141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15-25 руб.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4838700" y="2053591"/>
            <a:ext cx="36141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Вариативно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838700" y="2400300"/>
            <a:ext cx="36141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Качество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762000" y="3280411"/>
            <a:ext cx="36141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2000" y="3585211"/>
            <a:ext cx="36141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4-9 руб.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762000" y="3931920"/>
            <a:ext cx="36141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4952-9089 руб.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762000" y="4278630"/>
            <a:ext cx="3614166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Описание: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Охват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4861560" y="3280411"/>
            <a:ext cx="35908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ASB Consulting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861560" y="3585211"/>
            <a:ext cx="3590849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Оптимально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861560" y="3931920"/>
            <a:ext cx="3590849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15-25 руб.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4861560" y="4278630"/>
            <a:ext cx="3590849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30"/>
              </a:lnSpc>
              <a:buNone/>
            </a:pPr>
            <a:r>
              <a:rPr lang="en-US" sz="1020" b="1" dirty="0">
                <a:solidFill>
                  <a:srgbClr val="47B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Экономия:</a:t>
            </a:r>
            <a:pPr indent="0" marL="0">
              <a:lnSpc>
                <a:spcPts val="1530"/>
              </a:lnSpc>
              <a:buNone/>
            </a:pPr>
            <a:r>
              <a:rPr lang="en-US" sz="1020" dirty="0">
                <a:solidFill>
                  <a:srgbClr val="47B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до 30%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2539960" cy="2240280"/>
          </a:xfrm>
          <a:prstGeom prst="rect">
            <a:avLst/>
          </a:prstGeom>
          <a:solidFill>
            <a:srgbClr val="E8F4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01961" y="1249680"/>
            <a:ext cx="2539960" cy="2240280"/>
          </a:xfrm>
          <a:prstGeom prst="rect">
            <a:avLst/>
          </a:prstGeom>
          <a:solidFill>
            <a:srgbClr val="E8F4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94321" y="1249680"/>
            <a:ext cx="2540080" cy="2240280"/>
          </a:xfrm>
          <a:prstGeom prst="rect">
            <a:avLst/>
          </a:prstGeom>
          <a:solidFill>
            <a:srgbClr val="E8F4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3718561"/>
            <a:ext cx="7924800" cy="800100"/>
          </a:xfrm>
          <a:prstGeom prst="rect">
            <a:avLst/>
          </a:prstGeom>
          <a:noFill/>
          <a:ln w="7620">
            <a:solidFill>
              <a:srgbClr val="DDDDD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Стратегии по каналам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478280"/>
            <a:ext cx="212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Google Ads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38200" y="1866900"/>
            <a:ext cx="21244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47B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30%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838200" y="2179320"/>
            <a:ext cx="21244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200-300 руб.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2491741"/>
            <a:ext cx="21244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2000-2500 руб.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838200" y="2804161"/>
            <a:ext cx="2082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Высокая стоимость клика, но качественный трафик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30561" y="1478280"/>
            <a:ext cx="2124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SEO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30561" y="1866900"/>
            <a:ext cx="21244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47B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25%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3530561" y="2179320"/>
            <a:ext cx="21244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 руб. (органика)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3530561" y="2491741"/>
            <a:ext cx="212441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1500-2000 руб.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3530561" y="2804161"/>
            <a:ext cx="208276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Долгосрочный результат, требует времени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222921" y="1478280"/>
            <a:ext cx="21245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VK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22921" y="1866900"/>
            <a:ext cx="212453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FF8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Эффективность: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15%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222921" y="2179320"/>
            <a:ext cx="212453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60-100 руб.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6222921" y="2491741"/>
            <a:ext cx="212453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2000-2800 руб.</a:t>
            </a:r>
            <a:endParaRPr lang="en-US" sz="1080" dirty="0"/>
          </a:p>
        </p:txBody>
      </p:sp>
      <p:sp>
        <p:nvSpPr>
          <p:cNvPr id="21" name="Text 19"/>
          <p:cNvSpPr/>
          <p:nvPr/>
        </p:nvSpPr>
        <p:spPr>
          <a:xfrm>
            <a:off x="6222921" y="2804161"/>
            <a:ext cx="20828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 цена, требует качественного таргета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609600" y="3878580"/>
            <a:ext cx="80832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Контакт:</a:t>
            </a:r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buh.asbconsulting.ru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9600" y="4206241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Гарантированные результаты: SEO, контекстная реклама, SMM, аналитика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Кейсы и результаты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1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09600" y="1592580"/>
            <a:ext cx="392506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 кампания: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+500 лидов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1828800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 достигнут за 3 месяца интенсивной работы с аудиторией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609600" y="2362200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Case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2705100"/>
            <a:ext cx="392506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оптимизация: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+200 органических кликов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609600" y="2941323"/>
            <a:ext cx="3848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Поднялись в рейтинге, SEO требует 6-12 месяцев для результата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686300" y="1249680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QA тестирование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86300" y="1592580"/>
            <a:ext cx="392506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Тестирование сайта: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-5 критических ошибок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686300" y="1828800"/>
            <a:ext cx="3925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функциональности, юзабилити, QA отчет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686300" y="2209800"/>
            <a:ext cx="392506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Комплексное решение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86300" y="2552700"/>
            <a:ext cx="3925062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Интеграция:</a:t>
            </a:r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Google Ads, VK, Yandex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686300" y="2788923"/>
            <a:ext cx="39250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стратегия, контроль бюджета, CPL оптимизация</a:t>
            </a:r>
            <a:endParaRPr lang="en-US" sz="10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30682"/>
            <a:ext cx="3810000" cy="1287780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3070859"/>
            <a:ext cx="3810000" cy="1242060"/>
          </a:xfrm>
          <a:prstGeom prst="rect">
            <a:avLst/>
          </a:prstGeom>
          <a:solidFill>
            <a:srgbClr val="E8F4F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724400" y="1630682"/>
            <a:ext cx="3810000" cy="2684859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24400" y="4391741"/>
            <a:ext cx="3810000" cy="2684859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и CPL детально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24968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2000" y="1783082"/>
            <a:ext cx="35753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150-300 руб.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2110741"/>
            <a:ext cx="35753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среднее: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100-200 руб.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62000" y="2438400"/>
            <a:ext cx="35753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максимум: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300-500 руб.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3223259"/>
            <a:ext cx="357530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CPL: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762000" y="3535682"/>
            <a:ext cx="3575304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1500-2500 руб.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3870959"/>
            <a:ext cx="3575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864"/>
              </a:lnSpc>
              <a:buNone/>
            </a:pPr>
            <a:r>
              <a:rPr lang="en-US" sz="96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каждый лид платим 10% от бюджета, 1 лид = 10 кликов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4724400" y="1249682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Yandex &amp; VK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876800" y="1783082"/>
            <a:ext cx="35753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Yandex: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150-250 руб.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05400" y="2110741"/>
            <a:ext cx="3276600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Хорошее качество трафика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Меньше фрода чем Google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Локальный рынок России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с Яндекс сервисами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по регионам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на русском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876800" y="4544141"/>
            <a:ext cx="35753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VK:</a:t>
            </a:r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200-350 руб.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05400" y="4871800"/>
            <a:ext cx="3276600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Массовая аудитория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Молодежный контингент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интеграция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 реклама доступна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Таргетирование по интересам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Низкая цена за клик</a:t>
            </a:r>
            <a:endParaRPr lang="en-US" sz="10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83973"/>
            <a:ext cx="1752600" cy="1714500"/>
          </a:xfrm>
          <a:prstGeom prst="rect">
            <a:avLst/>
          </a:prstGeom>
          <a:solidFill>
            <a:srgbClr val="2E7D9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667000" y="1569723"/>
            <a:ext cx="1752600" cy="1428750"/>
          </a:xfrm>
          <a:prstGeom prst="rect">
            <a:avLst/>
          </a:prstGeom>
          <a:solidFill>
            <a:srgbClr val="47B88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724400" y="1855473"/>
            <a:ext cx="1752600" cy="1143000"/>
          </a:xfrm>
          <a:prstGeom prst="rect">
            <a:avLst/>
          </a:prstGeom>
          <a:solidFill>
            <a:srgbClr val="D4AF3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781800" y="2141223"/>
            <a:ext cx="1752600" cy="857250"/>
          </a:xfrm>
          <a:prstGeom prst="rect">
            <a:avLst/>
          </a:prstGeom>
          <a:solidFill>
            <a:srgbClr val="FF8C0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3935732"/>
            <a:ext cx="7924800" cy="922020"/>
          </a:xfrm>
          <a:prstGeom prst="rect">
            <a:avLst/>
          </a:prstGeom>
          <a:noFill/>
          <a:ln w="15240">
            <a:solidFill>
              <a:srgbClr val="DDDDDD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Сравнение эффективности каналов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052590" y="3150873"/>
            <a:ext cx="86650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79108" y="3150873"/>
            <a:ext cx="32838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19265" y="3150873"/>
            <a:ext cx="362752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50016" y="3150873"/>
            <a:ext cx="216048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4179573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5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процентов клиентов удовлетворены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" y="4530091"/>
            <a:ext cx="80832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50-80</a:t>
            </a:r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лидов в месяц в среднем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43300"/>
            <a:ext cx="1866900" cy="381000"/>
          </a:xfrm>
          <a:prstGeom prst="rect">
            <a:avLst/>
          </a:prstGeom>
          <a:solidFill>
            <a:srgbClr val="47B881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628900" y="3352800"/>
            <a:ext cx="1866900" cy="571500"/>
          </a:xfrm>
          <a:prstGeom prst="rect">
            <a:avLst/>
          </a:prstGeom>
          <a:solidFill>
            <a:srgbClr val="FDB927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648200" y="1836423"/>
            <a:ext cx="1866900" cy="1905000"/>
          </a:xfrm>
          <a:prstGeom prst="rect">
            <a:avLst/>
          </a:prstGeom>
          <a:solidFill>
            <a:srgbClr val="E8F4F8"/>
          </a:solidFill>
          <a:ln w="15240">
            <a:solidFill>
              <a:srgbClr val="1A3A52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20K</a:t>
            </a:r>
            <a:endParaRPr lang="en-US" sz="1320" dirty="0"/>
          </a:p>
        </p:txBody>
      </p:sp>
      <p:sp>
        <p:nvSpPr>
          <p:cNvPr id="5" name="Text 3"/>
          <p:cNvSpPr/>
          <p:nvPr/>
        </p:nvSpPr>
        <p:spPr>
          <a:xfrm>
            <a:off x="6667500" y="1638300"/>
            <a:ext cx="1866900" cy="2286000"/>
          </a:xfrm>
          <a:prstGeom prst="rect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21.2K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ASB Consulting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09600" y="1249682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ASB - лучший выбор для вашего бизнеса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1232520" y="4000500"/>
            <a:ext cx="620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Проектов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3250241" y="4000500"/>
            <a:ext cx="6240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Клиентов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243394" y="3817623"/>
            <a:ext cx="676394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ASB</a:t>
            </a:r>
            <a:pPr algn="ctr" indent="0" marL="0">
              <a:lnSpc>
                <a:spcPts val="918"/>
              </a:lnSpc>
              <a:buNone/>
            </a:pPr>
            <a:endParaRPr lang="en-US" sz="1020" dirty="0"/>
          </a:p>
          <a:p>
            <a:pPr algn="ctr"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390976" y="4000500"/>
            <a:ext cx="4198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18"/>
              </a:lnSpc>
              <a:buNone/>
            </a:pPr>
            <a:r>
              <a:rPr lang="en-US" sz="102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Лидов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работы 1-4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1-2 Аналитика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638300"/>
            <a:ext cx="3848100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Аудит сайта и кампаний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конкурентов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целевой аудитории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слабых мест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целей и KPI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бюджета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609600" y="3919300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3-4 Запуск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4307918"/>
            <a:ext cx="3848100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Создание рекламных материалов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Настройка рекламных кампаний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тестирование креативов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Запуск тестовых кампаний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Мониторинг и оптимизация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Еженедельный отчет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4686300" y="1249682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686300" y="1638300"/>
            <a:ext cx="3848100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Разработка стратегии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каналов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Выделение бюджета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Составление плана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 с клиентом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Подготовка материалов</a:t>
            </a:r>
            <a:endParaRPr lang="en-US" sz="1080" dirty="0"/>
          </a:p>
        </p:txBody>
      </p:sp>
      <p:sp>
        <p:nvSpPr>
          <p:cNvPr id="9" name="Text 7"/>
          <p:cNvSpPr/>
          <p:nvPr/>
        </p:nvSpPr>
        <p:spPr>
          <a:xfrm>
            <a:off x="4686300" y="3919300"/>
            <a:ext cx="392506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86300" y="4307918"/>
            <a:ext cx="3848100" cy="205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результатов 2-3 недели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Масштабирование работающих кампаний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Сокращение неработающих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по SEO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Google Analytics</a:t>
            </a:r>
            <a:endParaRPr lang="en-US" sz="1080" dirty="0"/>
          </a:p>
          <a:p>
            <a:pPr marL="342900" indent="-342900">
              <a:lnSpc>
                <a:spcPts val="1944"/>
              </a:lnSpc>
              <a:buSzPct val="100000"/>
              <a:buChar char="•"/>
            </a:pPr>
            <a:r>
              <a:rPr lang="en-US" sz="108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Еженедельный отчет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752600"/>
            <a:ext cx="3810000" cy="1036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941323"/>
            <a:ext cx="3810000" cy="1036320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 ROI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09600" y="132588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Инвестиции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200" y="1981200"/>
            <a:ext cx="3419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200" y="2400300"/>
            <a:ext cx="341985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Инвестировано в рекламу за 24 месяца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3169923"/>
            <a:ext cx="3419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2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38200" y="3589023"/>
            <a:ext cx="341985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Средний месячный бюджет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4724400" y="132588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24400" y="1752600"/>
            <a:ext cx="38100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Конверсия: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1080 клиентов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CPL: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2200 руб. в среднем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100-160% в месяц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Срок: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результаты за 24 месяца</a:t>
            </a:r>
            <a:endParaRPr lang="en-US" sz="1200" dirty="0"/>
          </a:p>
          <a:p>
            <a:pPr marL="342900" indent="-342900">
              <a:lnSpc>
                <a:spcPts val="2400"/>
              </a:lnSpc>
              <a:buSzPct val="100000"/>
              <a:buChar char="•"/>
            </a:pPr>
            <a:r>
              <a:rPr lang="en-US" sz="1200" b="1" dirty="0">
                <a:solidFill>
                  <a:srgbClr val="47B8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ROI:</a:t>
            </a:r>
            <a:pPr indent="0" marL="0">
              <a:lnSpc>
                <a:spcPts val="2400"/>
              </a:lnSpc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10x возврат инвестиций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3848100" cy="1402080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686300" y="1249682"/>
            <a:ext cx="3848100" cy="1402080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880359"/>
            <a:ext cx="3848100" cy="1402080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86300" y="2880359"/>
            <a:ext cx="3848100" cy="1402080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4511041"/>
            <a:ext cx="3848100" cy="1402080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686300" y="4511041"/>
            <a:ext cx="3848100" cy="1402080"/>
          </a:xfrm>
          <a:prstGeom prst="rect">
            <a:avLst/>
          </a:prstGeom>
          <a:solidFill>
            <a:srgbClr val="F8F9FA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и метрики успеха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38200" y="1478282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CPC (Cost Per Click)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38200" y="1783082"/>
            <a:ext cx="345871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200-300 руб.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2118359"/>
            <a:ext cx="3458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за один клик в среднем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914900" y="1478282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(Click-Through Rate)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914900" y="1783082"/>
            <a:ext cx="345871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914900" y="2118359"/>
            <a:ext cx="3458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до 5 процентов кликов из впечатлений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838200" y="3108959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CPL (Cost Per Lead)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8200" y="3413759"/>
            <a:ext cx="345871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2000-2500 руб.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8200" y="3749041"/>
            <a:ext cx="3458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за один лид через CRM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914900" y="3108959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Rate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14900" y="3413759"/>
            <a:ext cx="345871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8-12%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914900" y="3749041"/>
            <a:ext cx="3458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Процент посетителей совершивших действие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838200" y="4739641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CPA (Cost Per Action)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38200" y="5044441"/>
            <a:ext cx="345871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18-24K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8200" y="5379723"/>
            <a:ext cx="3458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за одного платящего клиента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914900" y="4739641"/>
            <a:ext cx="34587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2E7D9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ROAS (Return on Ad Spend)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914900" y="5044441"/>
            <a:ext cx="3458718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20"/>
              </a:lnSpc>
              <a:buNone/>
            </a:pPr>
            <a:r>
              <a:rPr lang="en-US" sz="1800" b="1" dirty="0">
                <a:solidFill>
                  <a:srgbClr val="1A3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70-90%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914900" y="5379723"/>
            <a:ext cx="345871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918"/>
              </a:lnSpc>
              <a:buNone/>
            </a:pPr>
            <a:r>
              <a:rPr lang="en-US" sz="102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Возврат на каждый рубль потраченный</a:t>
            </a:r>
            <a:endParaRPr lang="en-US" sz="10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Ключевые преимущества ASB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687832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Интегрированный подход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09600" y="1962150"/>
            <a:ext cx="80832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Комбинируем Google Ads, Yandex Direct, VK, Instagram для максимума охвата и конверсии.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09600" y="2366009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ASB Аналитика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09600" y="2640332"/>
            <a:ext cx="80832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Собственная система аналитики, собираем данные для оптимизации.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3044191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SEO Оптимизация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600" y="3318509"/>
            <a:ext cx="80832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30 месяцев среднее увеличение трафика SEO на 25% - 3-6 месяцев на результат.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3722368"/>
            <a:ext cx="8083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ROI 10x в 24 месяца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600" y="3996696"/>
            <a:ext cx="80832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840K инвестиция = 1080 конверсий, 100-160% в месяц, 24 месяца работы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8984" y="2667000"/>
            <a:ext cx="2546033" cy="1150620"/>
          </a:xfrm>
          <a:prstGeom prst="rect">
            <a:avLst/>
          </a:prstGeom>
          <a:noFill/>
          <a:ln w="7620">
            <a:solidFill>
              <a:srgbClr val="FFFFFF"/>
            </a:solidFill>
          </a:ln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675259" y="1325882"/>
            <a:ext cx="179348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Спасибо!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642744" y="2011682"/>
            <a:ext cx="3858511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Давайте создадим успешную кампанию вместе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273524" y="2979418"/>
            <a:ext cx="2596953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ASB Consulting Group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73524" y="3230882"/>
            <a:ext cx="259695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15"/>
              </a:lnSpc>
              <a:buNone/>
            </a:pPr>
            <a:r>
              <a:rPr lang="en-US" sz="13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www.asbconsulting.ru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73524" y="3505200"/>
            <a:ext cx="259695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buh.asbconsulting.ru - Свяжитесь с нами</a:t>
            </a:r>
            <a:endParaRPr lang="en-US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2025-12-10T12:48:54Z</dcterms:created>
  <dcterms:modified xsi:type="dcterms:W3CDTF">2025-12-10T12:48:54Z</dcterms:modified>
</cp:coreProperties>
</file>